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y="5143500" cx="9144000"/>
  <p:notesSz cx="6858000" cy="9144000"/>
  <p:embeddedFontLst>
    <p:embeddedFont>
      <p:font typeface="Roboto"/>
      <p:regular r:id="rId54"/>
      <p:bold r:id="rId55"/>
      <p:italic r:id="rId56"/>
      <p:boldItalic r:id="rId57"/>
    </p:embeddedFont>
    <p:embeddedFont>
      <p:font typeface="Roboto Mono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schemas.openxmlformats.org/officeDocument/2006/relationships/font" Target="fonts/RobotoMon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botoMono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oboto-bold.fntdata"/><Relationship Id="rId10" Type="http://schemas.openxmlformats.org/officeDocument/2006/relationships/slide" Target="slides/slide5.xml"/><Relationship Id="rId54" Type="http://schemas.openxmlformats.org/officeDocument/2006/relationships/font" Target="fonts/Roboto-regular.fntdata"/><Relationship Id="rId13" Type="http://schemas.openxmlformats.org/officeDocument/2006/relationships/slide" Target="slides/slide8.xml"/><Relationship Id="rId57" Type="http://schemas.openxmlformats.org/officeDocument/2006/relationships/font" Target="fonts/Roboto-boldItalic.fntdata"/><Relationship Id="rId12" Type="http://schemas.openxmlformats.org/officeDocument/2006/relationships/slide" Target="slides/slide7.xml"/><Relationship Id="rId56" Type="http://schemas.openxmlformats.org/officeDocument/2006/relationships/font" Target="fonts/Roboto-italic.fntdata"/><Relationship Id="rId15" Type="http://schemas.openxmlformats.org/officeDocument/2006/relationships/slide" Target="slides/slide10.xml"/><Relationship Id="rId59" Type="http://schemas.openxmlformats.org/officeDocument/2006/relationships/font" Target="fonts/RobotoMono-bold.fntdata"/><Relationship Id="rId14" Type="http://schemas.openxmlformats.org/officeDocument/2006/relationships/slide" Target="slides/slide9.xml"/><Relationship Id="rId58" Type="http://schemas.openxmlformats.org/officeDocument/2006/relationships/font" Target="fonts/RobotoMono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eb79d6041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eb79d6041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eb79d6041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3eb79d6041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eb79d6041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eb79d6041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eb79d6041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eb79d6041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3eb79d6041_3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3eb79d6041_3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3eb79d6041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3eb79d6041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eb79d6041_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3eb79d6041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eb79d6041_3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eb79d6041_3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eb79d6041_3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3eb79d6041_3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eb79d6041_3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eb79d6041_3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eb79d6041_3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3eb79d6041_3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eb79d604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eb79d604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e3e6cbf300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e3e6cbf30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e3e6cbf300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e3e6cbf30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e3e6cbf30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e3e6cbf30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328540908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328540908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328540908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328540908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28540908e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328540908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328540908e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328540908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28540908e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328540908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e3e6cbf30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e3e6cbf30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e3e6cbf30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e3e6cbf30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e3e6cbf300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e3e6cbf300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e3e6cbf300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e3e6cbf30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e3e6cbf30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e3e6cbf30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e3e6cbf300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e3e6cbf300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e3e6cbf300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e3e6cbf300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e3e6cbf300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e3e6cbf300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e3e6cbf300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e3e6cbf300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e3e6cbf300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e3e6cbf30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e3e6cbf300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e3e6cbf300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e3e6cbf30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e3e6cbf30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e3e6cbf300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e3e6cbf30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e3e6cbf30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e3e6cbf30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e3e6cbf30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e3e6cbf30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e3e6cbf30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e3e6cbf30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e3e6cbf30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e3e6cbf30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e3e6cbf300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e3e6cbf30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e3e6cbf30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e3e6cbf30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e3e6cbf30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e3e6cbf30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e3e6cbf30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e3e6cbf30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465c5601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465c5601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465c5601d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465c5601d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465c5601d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465c5601d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465c5601d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465c5601d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465c5601d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465c5601d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465c5601d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465c5601d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docker </a:t>
            </a:r>
            <a:r>
              <a:rPr lang="ko"/>
              <a:t>명령어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latin typeface="Arial"/>
                <a:ea typeface="Arial"/>
                <a:cs typeface="Arial"/>
                <a:sym typeface="Arial"/>
              </a:rPr>
              <a:t>실행 중인 컨테이너 확인 및 </a:t>
            </a:r>
            <a:r>
              <a:rPr b="1" lang="ko" sz="2500">
                <a:latin typeface="Arial"/>
                <a:ea typeface="Arial"/>
                <a:cs typeface="Arial"/>
                <a:sym typeface="Arial"/>
              </a:rPr>
              <a:t>제어</a:t>
            </a:r>
            <a:endParaRPr sz="2500"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30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ps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ps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출력 예시: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CONTAINER ID   IMAGE    COMMAND                  CREATED         STATUS         PORTS                  NAMES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a1b2c3d4e5f6   nginx    "/docker-entrypoint.…"   5 minutes ago   Up 5 minutes   0.0.0.0:8080-&gt;80/tcp   loving_turing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모든 컨테이너 확인 (중지된 컨테이너 포함)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ps -a</a:t>
            </a:r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latin typeface="Arial"/>
                <a:ea typeface="Arial"/>
                <a:cs typeface="Arial"/>
                <a:sym typeface="Arial"/>
              </a:rPr>
              <a:t>실행 중인 컨테이너 확인 및 제어</a:t>
            </a:r>
            <a:endParaRPr sz="2500"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8222100" cy="30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stop</a:t>
            </a:r>
            <a:endParaRPr b="1"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실행 중인 컨테이너 중지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stop a1b2c3d4e5f6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컨테이너 ID나 이름을 지정하여 중지할 수 있습니다.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start</a:t>
            </a:r>
            <a:endParaRPr b="1"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중지된 컨테이너 다시 실행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start a1b2c3d4e5f6</a:t>
            </a:r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latin typeface="Arial"/>
                <a:ea typeface="Arial"/>
                <a:cs typeface="Arial"/>
                <a:sym typeface="Arial"/>
              </a:rPr>
              <a:t>실행 중인 컨테이너 확인 및 제어</a:t>
            </a:r>
            <a:endParaRPr sz="2500"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471900" y="1919075"/>
            <a:ext cx="8222100" cy="30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restart</a:t>
            </a:r>
            <a:endParaRPr b="1"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컨테이너 재시작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restart a1b2c3d4e5f6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rm</a:t>
            </a:r>
            <a:endParaRPr b="1"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컨테이너 삭제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rm a1b2c3d4e5f6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중지된 컨테이너만 삭제할 수 있습니다.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실행 중인 컨테이너를 삭제하려면 먼저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stop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을 실행해야 합니다.</a:t>
            </a:r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latin typeface="Arial"/>
                <a:ea typeface="Arial"/>
                <a:cs typeface="Arial"/>
                <a:sym typeface="Arial"/>
              </a:rPr>
              <a:t>Docker 이미지 관리</a:t>
            </a:r>
            <a:endParaRPr sz="2500"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71900" y="1919075"/>
            <a:ext cx="8222100" cy="31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images</a:t>
            </a:r>
            <a:endParaRPr b="1"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로컬에 저장된 이미지 목록 확인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images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출력 예시: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REPOSITORY   TAG       IMAGE ID       CREATED        SIZE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ubuntu       latest    2b4cba85891f   2 days ago     72MB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nginx        latest    5ad3bd0d8ff1   3 weeks ago    133MB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rmi</a:t>
            </a:r>
            <a:endParaRPr b="1"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이미지 삭제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rmi ubuntu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latin typeface="Arial"/>
                <a:ea typeface="Arial"/>
                <a:cs typeface="Arial"/>
                <a:sym typeface="Arial"/>
              </a:rPr>
              <a:t>Docker 이미지 검색 및 다운로드</a:t>
            </a:r>
            <a:endParaRPr sz="2500"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471900" y="1842875"/>
            <a:ext cx="8222100" cy="31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search</a:t>
            </a:r>
            <a:endParaRPr b="1"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공식 Docker Hub에서 특정 이미지 검색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search ubuntu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출력 예시: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NAME                           DESCRIPTION                                     STARS   OFFICIAL   AUTOMATED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ubuntu                         Ubuntu is a Debian-based Linux operating s…   10000    [OK]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pull</a:t>
            </a:r>
            <a:endParaRPr b="1"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원하는 Docker 이미지를 다운로드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pull ubuntu:latest</a:t>
            </a:r>
            <a:r>
              <a:rPr lang="ko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Ubuntu의 최신 버전을 다운로드합니다.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latin typeface="Arial"/>
                <a:ea typeface="Arial"/>
                <a:cs typeface="Arial"/>
                <a:sym typeface="Arial"/>
              </a:rPr>
              <a:t>Docker 컨테이너 실행</a:t>
            </a:r>
            <a:endParaRPr sz="2500"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471900" y="1766675"/>
            <a:ext cx="8222100" cy="31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run</a:t>
            </a:r>
            <a:endParaRPr b="1"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컨테이너 실행 (인터랙티브 모드)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run -it ubuntu /bin/bash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-it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터미널에서 실행 (인터랙티브 모드)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ubuntu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사용할 이미지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/bin/bash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컨테이너에서 실행할 명령어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백그라운드 실행 (Detached Mode)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run -d -p 8080:80 nginx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-d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백그라운드 실행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-p 8080:80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호스트의 8080 포트를 컨테이너의 80 포트와 연결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nginx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사용할 이미지 (자동으로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pull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후 실행)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latin typeface="Arial"/>
                <a:ea typeface="Arial"/>
                <a:cs typeface="Arial"/>
                <a:sym typeface="Arial"/>
              </a:rPr>
              <a:t>Docker 볼륨 및 네트워크</a:t>
            </a:r>
            <a:endParaRPr sz="2500"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471900" y="1766675"/>
            <a:ext cx="8222100" cy="31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volume</a:t>
            </a:r>
            <a:endParaRPr b="1"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볼륨 생성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volume create my_volume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볼륨 목록 확인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volume ls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컨테이너에서 볼륨 사용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run -d -v my_volume:/data ubunt</a:t>
            </a:r>
            <a:endParaRPr b="1"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latin typeface="Arial"/>
                <a:ea typeface="Arial"/>
                <a:cs typeface="Arial"/>
                <a:sym typeface="Arial"/>
              </a:rPr>
              <a:t>Docker 볼륨 및 네트워크</a:t>
            </a:r>
            <a:endParaRPr sz="2500"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471900" y="1766675"/>
            <a:ext cx="8222100" cy="31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network</a:t>
            </a:r>
            <a:endParaRPr b="1"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네트워크 목록 확인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network ls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새 네트워크 생성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network create my_network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컨테이너를 네트워크에 연결하여 실행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run -d --network my_network --name my_container nginx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latin typeface="Arial"/>
                <a:ea typeface="Arial"/>
                <a:cs typeface="Arial"/>
                <a:sym typeface="Arial"/>
              </a:rPr>
              <a:t>Docker 컨테이너 내부 접근</a:t>
            </a:r>
            <a:endParaRPr sz="2500"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471900" y="1766675"/>
            <a:ext cx="8222100" cy="31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exec</a:t>
            </a:r>
            <a:endParaRPr b="1"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실행 중인 컨테이너 내부에서 명령어 실행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exec -it a1b2c3d4e5f6 /bin/bash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latin typeface="Arial"/>
                <a:ea typeface="Arial"/>
                <a:cs typeface="Arial"/>
                <a:sym typeface="Arial"/>
              </a:rPr>
              <a:t>Dockerfile을 이용한 이미지 생성</a:t>
            </a:r>
            <a:endParaRPr sz="2500"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471900" y="1842875"/>
            <a:ext cx="3477000" cy="31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Base image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python:3.9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작업 디렉토리 설정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WORKDIR /app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파일 복사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COPY . /app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패키지 설치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RUN pip install -r requirements.txt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실행할 명령어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CMD ["python", "app.py"]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4662900" y="1842875"/>
            <a:ext cx="4231800" cy="31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이미지 빌드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build -t my_python_app 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이미지 실행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run -d -p 5000:5000 my_python_app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latin typeface="Arial"/>
                <a:ea typeface="Arial"/>
                <a:cs typeface="Arial"/>
                <a:sym typeface="Arial"/>
              </a:rPr>
              <a:t>Docker Compose</a:t>
            </a:r>
            <a:endParaRPr sz="2500"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471900" y="1842875"/>
            <a:ext cx="4100100" cy="31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version: '3'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services: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web: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image: nginx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ports: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- "8080:80"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db: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image: mysql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environment: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MYSQL_ROOT_PASSWORD: root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4891500" y="1919075"/>
            <a:ext cx="4100100" cy="31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Compose 실행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 up -d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Compose 중지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 down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java 설치 하기</a:t>
            </a:r>
            <a:endParaRPr/>
          </a:p>
        </p:txBody>
      </p:sp>
      <p:sp>
        <p:nvSpPr>
          <p:cNvPr id="142" name="Google Shape;142;p25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java 17 설치</a:t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471900" y="1919075"/>
            <a:ext cx="8222100" cy="30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1️⃣ Java 17 설치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EC2(Ubuntu 24)에서 Java 17을 설치합니다.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sudo apt update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sudo apt install -y openjdk-17-jdk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 버전 확인.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java -version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openjdk version "17.0.9" 2024-02-13</a:t>
            </a:r>
            <a:endParaRPr sz="1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OpenJDK Runtime Environment (build 17.0.9+0-Ubuntu-0ubuntu124.04)</a:t>
            </a:r>
            <a:endParaRPr sz="1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OpenJDK 64-Bit Server VM (build 17.0.9+0-Ubuntu-0ubuntu124.04, mixed mode, sharing)</a:t>
            </a:r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java 17 환경 변수 설정</a:t>
            </a:r>
            <a:endParaRPr/>
          </a:p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471900" y="1919075"/>
            <a:ext cx="8222100" cy="29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2️⃣ </a:t>
            </a:r>
            <a:r>
              <a:rPr b="1" lang="ko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JAVA_HOME</a:t>
            </a:r>
            <a:r>
              <a:rPr b="1" lang="ko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환경 변수 설정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 설치 경로 확인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readlink -f $(which java)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/usr/lib/jvm/java-17-openjdk-amd64/bin/java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환경 변수 설정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echo 'export JAVA_HOME=/usr/lib/jvm/java-17-openjdk-amd64' | sudo tee /etc/profile.d/java.sh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echo 'export PATH=$JAVA_HOME/bin:$PATH' | sudo tee -a /etc/profile.d/java.sh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source /etc/profile.d/java.sh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echo $JAVA_HOME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/usr/lib/jvm/java-17-openjdk-amd64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3️⃣ Gradle 실행 테스트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이제 다시 Gradle을 실행해 보세요.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bash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복사편집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cd /home/ubuntu/myapp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./gradlew build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4️⃣ EC2 인스턴스 재부팅 후에도 적용되도록 설정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환경 변수가 시스템 전체에서 영구적으로 적용되도록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/etc/environment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파일에도 추가합니다.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bash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복사편집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echo 'JAVA_HOME="/usr/lib/jvm/java-17-openjdk-amd64"' | sudo tee -a /etc/environment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설정을 반영하려면 서버를 재부팅하거나 다음을 실행하세요.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bash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복사편집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source /etc/environment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docker, docker compose </a:t>
            </a:r>
            <a:r>
              <a:rPr lang="ko"/>
              <a:t>설치</a:t>
            </a:r>
            <a:endParaRPr/>
          </a:p>
        </p:txBody>
      </p:sp>
      <p:sp>
        <p:nvSpPr>
          <p:cNvPr id="160" name="Google Shape;160;p28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docker </a:t>
            </a:r>
            <a:r>
              <a:rPr lang="ko"/>
              <a:t>설치</a:t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1. 기존 Docker 패키지 제거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sudo apt-get remove docker docker-engine docker.io containerd runc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2. 필수 패키지 업데이트 및 설치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sudo apt-get update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sudo apt-get install -y apt-transport-https ca-certificates curl software-properties-commo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3. Docker 공식 GPG 키 추가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curl -fsSL https://download.docker.com/linux/ubuntu/gpg | sudo gpg --dearmor -o /usr/share/keyrings/docker-archive-keyring.gpg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docker 설치</a:t>
            </a:r>
            <a:endParaRPr/>
          </a:p>
        </p:txBody>
      </p:sp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471900" y="1919075"/>
            <a:ext cx="8222100" cy="28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4. Docker 공식 리포지토리 추가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echo "deb [arch=$(dpkg --print-architecture) signed-by=/usr/share/keyrings/docker-archive-keyring.gpg] https://download.docker.com/linux/ubuntu $(lsb_release -cs) stable" | sudo tee /etc/apt/sources.list.d/docker.list &gt; /dev/null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5. Docker 엔진 설치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sudo apt-get update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sudo apt-get install -y docker-ce docker-ce-cli containerd.io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6. Docker 서비스 실행 및 자동 시작 설정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sudo systemctl start docker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sudo systemctl enable docker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docker 설치</a:t>
            </a:r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471900" y="1919075"/>
            <a:ext cx="8222100" cy="28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7. Docker 버전 확인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--version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8. (선택) 현재 사용자에게 Docker 권한 부여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기본적으로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sudo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없이 Docker를 실행하려면 사용자 그룹을 변경해야 합니다.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sudo usermod -aG docker $USER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그 후, 로그아웃 후 다시 로그인하거나 아래 명령어를 실행하여 변경 사항을 적용합니다.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newgrp docker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9. Docker 실행 테스트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run hello-world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docker-compose </a:t>
            </a:r>
            <a:r>
              <a:rPr lang="ko"/>
              <a:t>설치하기</a:t>
            </a:r>
            <a:endParaRPr/>
          </a:p>
        </p:txBody>
      </p:sp>
      <p:sp>
        <p:nvSpPr>
          <p:cNvPr id="184" name="Google Shape;184;p3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1. 최신 버전의 Docker Compose 설치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sudo curl -L "https://github.com/docker/compose/releases/latest/download/docker-compose-$(uname -s)-$(uname -m)" -o /usr/local/bin/docker-compose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2. 실행 권한 부여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sudo chmod +x /usr/local/bin/docker-compose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3. 설치 확인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 --version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출력 예시 (정상 설치된 경우)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Compose version v2.22.0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docker-compose 설치하기</a:t>
            </a:r>
            <a:endParaRPr/>
          </a:p>
        </p:txBody>
      </p:sp>
      <p:sp>
        <p:nvSpPr>
          <p:cNvPr id="190" name="Google Shape;190;p3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4. (선택) </a:t>
            </a:r>
            <a:r>
              <a:rPr b="1"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/usr/bin</a:t>
            </a: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경로에 심볼릭 링크 추가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sudo ln -s /usr/local/bin/docker-compose /usr/bin/docker-compose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5. (선택) Docker Compose v2 설치 (공식 패키지)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sudo apt-get update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sudo apt-get install -y docker-compose-plugin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설치 확인: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compose version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java build</a:t>
            </a:r>
            <a:endParaRPr/>
          </a:p>
        </p:txBody>
      </p:sp>
      <p:sp>
        <p:nvSpPr>
          <p:cNvPr id="196" name="Google Shape;196;p34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gradlew build</a:t>
            </a:r>
            <a:endParaRPr/>
          </a:p>
        </p:txBody>
      </p:sp>
      <p:sp>
        <p:nvSpPr>
          <p:cNvPr id="202" name="Google Shape;202;p35"/>
          <p:cNvSpPr txBox="1"/>
          <p:nvPr>
            <p:ph idx="1" type="body"/>
          </p:nvPr>
        </p:nvSpPr>
        <p:spPr>
          <a:xfrm>
            <a:off x="471900" y="1919075"/>
            <a:ext cx="8222100" cy="29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3️⃣ EC2 인스턴스 재부팅 후에도 적용되도록 설정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echo 'JAVA_HOME="/usr/lib/jvm/java-17-openjdk-amd64"' | sudo tee -a /etc/environment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source /etc/environment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4️⃣ Gradle 실행 테스트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cd /home/ubuntu/myapp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chmod +x gradlew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# 다시 빌드 실행 (테스트 제외) </a:t>
            </a:r>
            <a:endParaRPr sz="1100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./gradlew build -x test</a:t>
            </a:r>
            <a:endParaRPr sz="1100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postgres docker compose </a:t>
            </a:r>
            <a:r>
              <a:rPr lang="ko"/>
              <a:t>설치</a:t>
            </a:r>
            <a:endParaRPr/>
          </a:p>
        </p:txBody>
      </p:sp>
      <p:sp>
        <p:nvSpPr>
          <p:cNvPr id="208" name="Google Shape;208;p36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폴더 구조</a:t>
            </a:r>
            <a:endParaRPr/>
          </a:p>
        </p:txBody>
      </p:sp>
      <p:sp>
        <p:nvSpPr>
          <p:cNvPr id="214" name="Google Shape;214;p37"/>
          <p:cNvSpPr txBox="1"/>
          <p:nvPr>
            <p:ph idx="1" type="body"/>
          </p:nvPr>
        </p:nvSpPr>
        <p:spPr>
          <a:xfrm>
            <a:off x="471900" y="1919075"/>
            <a:ext cx="8222100" cy="29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/home/ubuntu/myapp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│── .env                      # ✅ 환경 변수 설정 파일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│── .gitignore                # Git에 올리지 않을 파일 목록 (.env 포함)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│── docker-compose.yml        # ✅ Docker Compose 설정 파일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│── volumes/                  # PostgreSQL 데이터 저장 볼륨 (Docker에서 관리)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  ├── postgres-data/        # PostgreSQL 데이터가 저장될 폴더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 b="1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.env</a:t>
            </a:r>
            <a:endParaRPr/>
          </a:p>
        </p:txBody>
      </p:sp>
      <p:sp>
        <p:nvSpPr>
          <p:cNvPr id="220" name="Google Shape;220;p38"/>
          <p:cNvSpPr txBox="1"/>
          <p:nvPr>
            <p:ph idx="1" type="body"/>
          </p:nvPr>
        </p:nvSpPr>
        <p:spPr>
          <a:xfrm>
            <a:off x="471900" y="1919075"/>
            <a:ext cx="8222100" cy="29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PostgreSQL 환경 변수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POSTGRES_DB=postgres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POSTGRES_USER=postgres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POSTGRES_PASSWORD=math1106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POSTGRES_PORT=5432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docker-compose.yml </a:t>
            </a:r>
            <a:r>
              <a:rPr lang="ko"/>
              <a:t>설정</a:t>
            </a:r>
            <a:endParaRPr/>
          </a:p>
        </p:txBody>
      </p:sp>
      <p:sp>
        <p:nvSpPr>
          <p:cNvPr id="226" name="Google Shape;226;p39"/>
          <p:cNvSpPr txBox="1"/>
          <p:nvPr>
            <p:ph idx="1" type="body"/>
          </p:nvPr>
        </p:nvSpPr>
        <p:spPr>
          <a:xfrm>
            <a:off x="471900" y="1919075"/>
            <a:ext cx="8222100" cy="29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version: "3.8"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db: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image: postgres:15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container_name: postgres-db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restart: always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env_file: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- .env  # ✅ .env 파일에서 환경 변수 로드</a:t>
            </a:r>
            <a:endParaRPr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docker-compose.yml 설정</a:t>
            </a:r>
            <a:endParaRPr/>
          </a:p>
        </p:txBody>
      </p:sp>
      <p:sp>
        <p:nvSpPr>
          <p:cNvPr id="232" name="Google Shape;232;p40"/>
          <p:cNvSpPr txBox="1"/>
          <p:nvPr>
            <p:ph idx="1" type="body"/>
          </p:nvPr>
        </p:nvSpPr>
        <p:spPr>
          <a:xfrm>
            <a:off x="471900" y="1919075"/>
            <a:ext cx="8222100" cy="29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- "${POSTGRES_PORT}:5432"  # ✅ .env에서 포트 번호 불러오기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volumes: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- postgres-data:/var/lib/postgresql/data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healthcheck: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test: ["CMD-SHELL", "pg_isready -U ${POSTGRES_USER} -d ${POSTGRES_DB}"]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interval: 10s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timeout: 5s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retries: 5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volumes: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postgres-data: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docker-compose </a:t>
            </a:r>
            <a:r>
              <a:rPr lang="ko"/>
              <a:t>실행</a:t>
            </a:r>
            <a:endParaRPr/>
          </a:p>
        </p:txBody>
      </p:sp>
      <p:sp>
        <p:nvSpPr>
          <p:cNvPr id="238" name="Google Shape;238;p4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PostgreSQL 컨테이너 실행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cd /home/ubuntu/myapp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 up -d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실행된 컨테이너 확인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ps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CONTAINER ID   IMAGE         STATUS          PORTS                    NAMES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a1b2c3d4e5f6   postgres:15   Up 10 seconds   0.0.0.0:5432-&gt;5432/tcp   postgres-db</a:t>
            </a:r>
            <a:endParaRPr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docker-compose 실행</a:t>
            </a:r>
            <a:endParaRPr/>
          </a:p>
        </p:txBody>
      </p:sp>
      <p:sp>
        <p:nvSpPr>
          <p:cNvPr id="244" name="Google Shape;244;p42"/>
          <p:cNvSpPr txBox="1"/>
          <p:nvPr>
            <p:ph idx="1" type="body"/>
          </p:nvPr>
        </p:nvSpPr>
        <p:spPr>
          <a:xfrm>
            <a:off x="471900" y="1919075"/>
            <a:ext cx="8222100" cy="29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PostgreSQL 컨테이너 내부 접속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exec -it postgres-db psql -U postgres -d postgres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PostgreSQL 명령어 테스트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-- 현재 데이터베이스 목록 확인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\l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-- 현재 테이블 목록 확인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\dt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-- 현재 사용자 목록 확인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\du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-- 종료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\q</a:t>
            </a:r>
            <a:endParaRPr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docker-compose 실행</a:t>
            </a:r>
            <a:endParaRPr/>
          </a:p>
        </p:txBody>
      </p:sp>
      <p:sp>
        <p:nvSpPr>
          <p:cNvPr id="250" name="Google Shape;250;p43"/>
          <p:cNvSpPr txBox="1"/>
          <p:nvPr>
            <p:ph idx="1" type="body"/>
          </p:nvPr>
        </p:nvSpPr>
        <p:spPr>
          <a:xfrm>
            <a:off x="471900" y="1919075"/>
            <a:ext cx="8222100" cy="29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컨테이너 중지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 down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유지 없이 컨테이너 삭제 후 다시 실행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 down -v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 up -d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-v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옵션을 사용하면 </a:t>
            </a: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모든 데이터도 삭제됨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주의!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 확인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logs postgres-db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120"/>
              <a:t>java spring, postgres</a:t>
            </a:r>
            <a:r>
              <a:rPr lang="ko" sz="3120"/>
              <a:t>를 </a:t>
            </a:r>
            <a:r>
              <a:rPr lang="ko" sz="3120"/>
              <a:t>docker compose 설치</a:t>
            </a:r>
            <a:endParaRPr sz="3120"/>
          </a:p>
        </p:txBody>
      </p:sp>
      <p:sp>
        <p:nvSpPr>
          <p:cNvPr id="256" name="Google Shape;256;p44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폴더 구조</a:t>
            </a:r>
            <a:endParaRPr/>
          </a:p>
        </p:txBody>
      </p:sp>
      <p:sp>
        <p:nvSpPr>
          <p:cNvPr id="262" name="Google Shape;262;p45"/>
          <p:cNvSpPr txBox="1"/>
          <p:nvPr>
            <p:ph idx="1" type="body"/>
          </p:nvPr>
        </p:nvSpPr>
        <p:spPr>
          <a:xfrm>
            <a:off x="471900" y="1766675"/>
            <a:ext cx="8222100" cy="31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/home/ubuntu/myapp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│── .env                      # ✅ 환경 변수 설정 파일 (DB 정보)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│── .gitignore                # Git에 올리지 않을 파일 목록 (.env 포함)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│── docker-compose.yml        # ✅ Docker Compose 설정 파일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│── Dockerfile                # ✅ Spring Boot 애플리케이션을 Docker로 빌드하는 파일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│── build.gradle              # ✅ Gradle 빌드 스크립트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│── src/                      # Java 소스 코드 폴더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  ├── main/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  │   ├── java/com/example/demo/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폴더 구조</a:t>
            </a:r>
            <a:endParaRPr/>
          </a:p>
        </p:txBody>
      </p:sp>
      <p:sp>
        <p:nvSpPr>
          <p:cNvPr id="268" name="Google Shape;268;p46"/>
          <p:cNvSpPr txBox="1"/>
          <p:nvPr>
            <p:ph idx="1" type="body"/>
          </p:nvPr>
        </p:nvSpPr>
        <p:spPr>
          <a:xfrm>
            <a:off x="471900" y="1766675"/>
            <a:ext cx="8222100" cy="31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  │   │   ├── DemoApplication.java  # Spring Boot 메인 클래스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  │   │   ├── controller/           # API 컨트롤러 폴더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  │   │   ├── service/              # 서비스 로직 폴더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  │   │   ├── repository/           # JPA 리포지토리 폴더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  │   │   ├── entity/               # 엔티티 클래스 폴더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  │   ├── resources/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  │   │   ├── application.yml       # ✅ Spring Boot 환경 변수 파일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│── volumes/                          # PostgreSQL 데이터 저장 볼륨 (Docker 관리)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  ├── postgres-data/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.env</a:t>
            </a:r>
            <a:endParaRPr/>
          </a:p>
        </p:txBody>
      </p:sp>
      <p:sp>
        <p:nvSpPr>
          <p:cNvPr id="274" name="Google Shape;274;p47"/>
          <p:cNvSpPr txBox="1"/>
          <p:nvPr>
            <p:ph idx="1" type="body"/>
          </p:nvPr>
        </p:nvSpPr>
        <p:spPr>
          <a:xfrm>
            <a:off x="471900" y="1919075"/>
            <a:ext cx="8222100" cy="28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PostgreSQL 환경 변수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POSTGRES_DB=postgres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POSTGRES_USER=postgres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POSTGRES_PASSWORD=math1106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POSTGRES_PORT=5432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Spring Boot 환경 변수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SPRING_DATASOURCE_URL=jdbc:postgresql://db:5432/postgres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SPRING_DATASOURCE_USERNAME=postgres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SPRING_DATASOURCE_PASSWORD=math1106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Dockerfile</a:t>
            </a:r>
            <a:endParaRPr/>
          </a:p>
        </p:txBody>
      </p:sp>
      <p:sp>
        <p:nvSpPr>
          <p:cNvPr id="280" name="Google Shape;280;p48"/>
          <p:cNvSpPr txBox="1"/>
          <p:nvPr>
            <p:ph idx="1" type="body"/>
          </p:nvPr>
        </p:nvSpPr>
        <p:spPr>
          <a:xfrm>
            <a:off x="471900" y="1766675"/>
            <a:ext cx="8222100" cy="33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Java 17 기반 Docker 이미지 사용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eclipse-temurin:17-jdk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작업 디렉토리 설정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WORKDIR /app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Gradle 빌드 후 생성된 JAR 파일 복사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 build/libs/*.jar app.jar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컨테이너 실행 시 실행할 명령어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ENTRYPOINT ["java", "-jar", "app.jar"]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포트 설정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EXPOSE 8080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9"/>
          <p:cNvSpPr txBox="1"/>
          <p:nvPr>
            <p:ph type="title"/>
          </p:nvPr>
        </p:nvSpPr>
        <p:spPr>
          <a:xfrm>
            <a:off x="460950" y="71070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docker-compose.yml</a:t>
            </a:r>
            <a:endParaRPr/>
          </a:p>
        </p:txBody>
      </p:sp>
      <p:sp>
        <p:nvSpPr>
          <p:cNvPr id="286" name="Google Shape;286;p49"/>
          <p:cNvSpPr txBox="1"/>
          <p:nvPr>
            <p:ph idx="1" type="body"/>
          </p:nvPr>
        </p:nvSpPr>
        <p:spPr>
          <a:xfrm>
            <a:off x="460950" y="1738650"/>
            <a:ext cx="2928900" cy="34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version: "3.8"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app: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build: 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container_name: spring-app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ports: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- "8080:8080"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depends_on: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db: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condition: service_healthy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env_file: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- .env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restart: always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49"/>
          <p:cNvSpPr txBox="1"/>
          <p:nvPr>
            <p:ph idx="1" type="body"/>
          </p:nvPr>
        </p:nvSpPr>
        <p:spPr>
          <a:xfrm>
            <a:off x="2899350" y="1738650"/>
            <a:ext cx="2928900" cy="34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db: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image: postgres:15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container_name: postgres-db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restart: always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env_file: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- .env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ports: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- "${POSTGRES_PORT}:5432"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volumes: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- postgres-data:/var/lib/postgresql/data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healthcheck: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9"/>
          <p:cNvSpPr txBox="1"/>
          <p:nvPr>
            <p:ph idx="1" type="body"/>
          </p:nvPr>
        </p:nvSpPr>
        <p:spPr>
          <a:xfrm>
            <a:off x="5947350" y="1738650"/>
            <a:ext cx="2928900" cy="31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test: ["CMD-SHELL", "pg_isready -U ${POSTGRES_USER} -d ${POSTGRES_DB}"]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interval: 10s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timeout: 5s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retries: 5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volumes: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postgres-data: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build</a:t>
            </a:r>
            <a:endParaRPr/>
          </a:p>
        </p:txBody>
      </p:sp>
      <p:sp>
        <p:nvSpPr>
          <p:cNvPr id="294" name="Google Shape;294;p50"/>
          <p:cNvSpPr txBox="1"/>
          <p:nvPr>
            <p:ph idx="1" type="body"/>
          </p:nvPr>
        </p:nvSpPr>
        <p:spPr>
          <a:xfrm>
            <a:off x="471900" y="1919075"/>
            <a:ext cx="8222100" cy="30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AWS EC2에서 프로젝트 실행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4.1 AWS에 프로젝트 업로드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scp -r /path/to/your/local/myapp ubuntu@your-aws-ip:/home/ubuntu/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4.2 AWS에서 프로젝트 빌드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cd /home/ubuntu/myapp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 down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컨테이너 실행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 up -d --build</a:t>
            </a:r>
            <a:endParaRPr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서버 연결</a:t>
            </a:r>
            <a:endParaRPr/>
          </a:p>
        </p:txBody>
      </p:sp>
      <p:sp>
        <p:nvSpPr>
          <p:cNvPr id="300" name="Google Shape;300;p51"/>
          <p:cNvSpPr txBox="1"/>
          <p:nvPr>
            <p:ph idx="1" type="body"/>
          </p:nvPr>
        </p:nvSpPr>
        <p:spPr>
          <a:xfrm>
            <a:off x="471900" y="1919075"/>
            <a:ext cx="8222100" cy="30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배포 확인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5.1 컨테이너 상태 확인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ps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5.2 애플리케이션 로그 확인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logs -f container_id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5.3 AWS EC2 보안 그룹에서 8080 포트 열기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AWS 콘솔 → EC2 → 보안 그룹 설정 → </a:t>
            </a: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8080 포트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를 허용하여 브라우저에서 접속할 수 있도록 설정합니다.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5.4 브라우저에서 확인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http://your-aws-ip:8080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으로 접속하여 애플리케이션이 정상 동작하는지 확인합니다.</a:t>
            </a:r>
            <a:endParaRPr sz="1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gitHub </a:t>
            </a:r>
            <a:r>
              <a:rPr lang="ko"/>
              <a:t>설정</a:t>
            </a:r>
            <a:endParaRPr/>
          </a:p>
        </p:txBody>
      </p:sp>
      <p:sp>
        <p:nvSpPr>
          <p:cNvPr id="306" name="Google Shape;306;p52"/>
          <p:cNvSpPr txBox="1"/>
          <p:nvPr>
            <p:ph idx="1" type="body"/>
          </p:nvPr>
        </p:nvSpPr>
        <p:spPr>
          <a:xfrm>
            <a:off x="471900" y="1919075"/>
            <a:ext cx="8222100" cy="30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자동화 (CI/CD)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6.1 GitHub Actions을 활용한 배포 자동화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name: Deploy to AWS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on: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push: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branches: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- main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jobs: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deploy: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runs-on: ubuntu-latest</a:t>
            </a:r>
            <a:endParaRPr sz="1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gitHub </a:t>
            </a:r>
            <a:r>
              <a:rPr lang="ko"/>
              <a:t>설정</a:t>
            </a:r>
            <a:endParaRPr/>
          </a:p>
        </p:txBody>
      </p:sp>
      <p:sp>
        <p:nvSpPr>
          <p:cNvPr id="312" name="Google Shape;312;p53"/>
          <p:cNvSpPr txBox="1"/>
          <p:nvPr>
            <p:ph idx="1" type="body"/>
          </p:nvPr>
        </p:nvSpPr>
        <p:spPr>
          <a:xfrm>
            <a:off x="471900" y="1919075"/>
            <a:ext cx="8222100" cy="30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steps: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- name: Checkout Repository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uses: actions/checkout@v3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- name: Deploy to AWS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env: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HOST: your-aws-ip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USER: ubuntu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KEY: ${{ secrets.AWS_SSH_KEY }}</a:t>
            </a:r>
            <a:endParaRPr sz="1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gitHub 설정</a:t>
            </a:r>
            <a:endParaRPr/>
          </a:p>
        </p:txBody>
      </p:sp>
      <p:sp>
        <p:nvSpPr>
          <p:cNvPr id="318" name="Google Shape;318;p54"/>
          <p:cNvSpPr txBox="1"/>
          <p:nvPr>
            <p:ph idx="1" type="body"/>
          </p:nvPr>
        </p:nvSpPr>
        <p:spPr>
          <a:xfrm>
            <a:off x="471900" y="1919075"/>
            <a:ext cx="8222100" cy="30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run: | 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ssh -o StrictHostKeyChecking=no -i "$KEY" $USER@$HOST &lt;&lt; 'EOF'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  cd /home/ubuntu/myapp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  git pull origin main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  ./gradlew build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  docker-compose build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  docker-compose up -d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EOF</a:t>
            </a:r>
            <a:endParaRPr sz="11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5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520"/>
              <a:t>flutter_web, build, Dockerfile, docker-</a:t>
            </a:r>
            <a:r>
              <a:rPr lang="ko" sz="2520"/>
              <a:t>compose.yml 설치</a:t>
            </a:r>
            <a:endParaRPr sz="2520"/>
          </a:p>
        </p:txBody>
      </p:sp>
      <p:sp>
        <p:nvSpPr>
          <p:cNvPr id="324" name="Google Shape;324;p55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전체 폴더 구조</a:t>
            </a:r>
            <a:endParaRPr/>
          </a:p>
        </p:txBody>
      </p:sp>
      <p:sp>
        <p:nvSpPr>
          <p:cNvPr id="330" name="Google Shape;330;p56"/>
          <p:cNvSpPr txBox="1"/>
          <p:nvPr>
            <p:ph idx="1" type="body"/>
          </p:nvPr>
        </p:nvSpPr>
        <p:spPr>
          <a:xfrm>
            <a:off x="471900" y="1919075"/>
            <a:ext cx="8222100" cy="30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flutter_web_docker/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├── Dockerfile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├── docker-compose.yml           # (선택)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├── nginx.conf                   # (선택 - custom Nginx 설정 시)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└── build/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└── web/                     # Flutter에서 빌드된 결과물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├── index.html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├── main.dart.js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└── ... (기타 정적 파일)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Dockerfile</a:t>
            </a:r>
            <a:endParaRPr/>
          </a:p>
        </p:txBody>
      </p:sp>
      <p:sp>
        <p:nvSpPr>
          <p:cNvPr id="336" name="Google Shape;336;p57"/>
          <p:cNvSpPr txBox="1"/>
          <p:nvPr>
            <p:ph idx="1" type="body"/>
          </p:nvPr>
        </p:nvSpPr>
        <p:spPr>
          <a:xfrm>
            <a:off x="471900" y="1919075"/>
            <a:ext cx="8222100" cy="30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Nginx를 기본 이미지로 사용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nginx:stable-alpine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Flutter 웹 결과물을 복사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 build/web /usr/share/nginx/html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(선택) nginx 설정을 교체하고 싶을 경우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COPY nginx.conf /etc/nginx/conf.d/default.conf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80 포트 노출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EXPOSE 80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nginx</a:t>
            </a:r>
            <a:r>
              <a:rPr lang="ko"/>
              <a:t>.conf</a:t>
            </a:r>
            <a:endParaRPr/>
          </a:p>
        </p:txBody>
      </p:sp>
      <p:sp>
        <p:nvSpPr>
          <p:cNvPr id="342" name="Google Shape;342;p58"/>
          <p:cNvSpPr txBox="1"/>
          <p:nvPr>
            <p:ph idx="1" type="body"/>
          </p:nvPr>
        </p:nvSpPr>
        <p:spPr>
          <a:xfrm>
            <a:off x="471900" y="1919075"/>
            <a:ext cx="8222100" cy="30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 {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listen 80;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server_name localhost;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location / {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root   /usr/share/nginx/html;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index  index.html index.htm;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try_files $uri $uri/ /index.html;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error_page 404 /index.html;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docker-compose.yml</a:t>
            </a:r>
            <a:endParaRPr/>
          </a:p>
        </p:txBody>
      </p:sp>
      <p:sp>
        <p:nvSpPr>
          <p:cNvPr id="348" name="Google Shape;348;p5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200">
                <a:solidFill>
                  <a:schemeClr val="dk2"/>
                </a:solidFill>
              </a:rPr>
              <a:t>version: '3'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ko" sz="1200">
                <a:solidFill>
                  <a:schemeClr val="dk2"/>
                </a:solidFill>
              </a:rPr>
              <a:t>services: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ko" sz="1200">
                <a:solidFill>
                  <a:schemeClr val="dk2"/>
                </a:solidFill>
              </a:rPr>
              <a:t>  flutter_web: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ko" sz="1200">
                <a:solidFill>
                  <a:schemeClr val="dk2"/>
                </a:solidFill>
              </a:rPr>
              <a:t>    build: 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ko" sz="1200">
                <a:solidFill>
                  <a:schemeClr val="dk2"/>
                </a:solidFill>
              </a:rPr>
              <a:t>    ports: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ko" sz="1200">
                <a:solidFill>
                  <a:schemeClr val="dk2"/>
                </a:solidFill>
              </a:rPr>
              <a:t>      - "80:80"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ko" sz="1200">
                <a:solidFill>
                  <a:schemeClr val="dk2"/>
                </a:solidFill>
              </a:rPr>
              <a:t>    container_name: flutter_web_container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build </a:t>
            </a:r>
            <a:r>
              <a:rPr lang="ko"/>
              <a:t>및 이미지 그리고 저장하고 실행</a:t>
            </a:r>
            <a:endParaRPr/>
          </a:p>
        </p:txBody>
      </p:sp>
      <p:sp>
        <p:nvSpPr>
          <p:cNvPr id="354" name="Google Shape;354;p60"/>
          <p:cNvSpPr txBox="1"/>
          <p:nvPr>
            <p:ph idx="1" type="body"/>
          </p:nvPr>
        </p:nvSpPr>
        <p:spPr>
          <a:xfrm>
            <a:off x="471900" y="1919075"/>
            <a:ext cx="8222100" cy="30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# 빌드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flutter build web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# Docker 이미지 생성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docker build -t flutter-web-app 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# (선택) 저장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docker save flutter-web-app &gt; flutter-web-app.tar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# EC2에서 실행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docker load &lt; flutter-web-app.tar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docker run -d -p 80:80 flutter-web-app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